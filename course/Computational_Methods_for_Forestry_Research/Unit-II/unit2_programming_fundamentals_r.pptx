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Unit II. Emphasize that programming in forestry is not about writing software, but creating reproducible mathematical calculations that prevent silent numerical corruption.</a:t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c1a65623f179f10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5c1a65623f179f10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 how silent unit errors are the most dangerous in forestry because scripts run to completion without error messages.</a:t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Contrast R's vectorized nature with traditional programming languages like C or Python loops.</a:t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 how factors enforce valid taxonomic names and prevent silent typos from creating ghost species.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 students never to guess solutions. Follow the 6-step diagnostic protocol.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Demonstrate how packaging equations into custom functions prevents widespread calculation errors.</a:t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tidy data principles (Wickham 2014) in the context of forest inventories.</a:t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Conclude Unit II and introduce Unit III (Data Cleaning and APIs).</a:t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c1a65623f179f10_11_0)">
  <p:cSld name="Generated (h5c1a65623f179f10_11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731520" y="533400"/>
            <a:ext cx="4000500" cy="342900"/>
          </a:xfrm>
          <a:prstGeom prst="roundRect">
            <a:avLst>
              <a:gd fmla="val 44444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52400" spcFirstLastPara="1" rIns="152400" wrap="square" tIns="3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TRIBHUVAN UNIVERSITY • INSTITUTE OF FORESTRY</a:t>
            </a:r>
            <a:endParaRPr b="1"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31520" y="1123950"/>
            <a:ext cx="10728900" cy="18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3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M.Sc. Forestry  |  Quantitative Methods &amp; Forest Biometrics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388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Unit II: Programming Fundamentals in R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573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Vectorization, Control Flow, Defensive Programming, and Systematic Debugging for Forest Inventory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31520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 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MODULE OVERVIEW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Course Module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Unit II: Programming Fundamentals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Academic Program: M.Sc. Forestry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Institution: Tribhuvan University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Focus: Biometric computation in R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429125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 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KEY TOPICS COVERED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Syllabus Pillars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Atomic Vector Types &amp; Coercion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Vectorized Logic vs. Scalar 'if'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Unit Conversions &amp; Defensive Guards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Modular Functions &amp; Tidy Standards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126730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military_tech 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CORE COMPETENCIES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Learning Outcomes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Eliminate silent calculation bugs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Automate 5,000+ stem inventories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Master 6-step systematic debugging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Build production forestry scripts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31520" y="381000"/>
            <a:ext cx="34290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Tribhuvan University • M.Sc. Forestry • Unit II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731520" y="876300"/>
            <a:ext cx="10728900" cy="139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Programming Fundamentals in R: Vectors, Conditionals, &amp; Error Handling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Moving from single pocket-calculator stem calculations to full-stand vectorized automation.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3152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analytics</a:t>
            </a:r>
            <a:endParaRPr b="1" i="0" sz="2800" u="none" strike="noStrike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Single Stem BA</a:t>
            </a:r>
            <a:endParaRPr b="1" i="0" sz="10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0.0633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284C7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1" i="0" sz="1600" u="none" strike="noStrike">
              <a:solidFill>
                <a:srgbClr val="0284C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Baseline calculation for individual tree basal area.</a:t>
            </a:r>
            <a:endParaRPr b="1" i="0" sz="2800" u="none" strike="noStrike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48234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dataset</a:t>
            </a:r>
            <a:endParaRPr b="1" i="0" sz="28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Vectorized Inventory</a:t>
            </a:r>
            <a:endParaRPr b="1" i="0" sz="10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SCALE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5,000+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Tree Rows</a:t>
            </a:r>
            <a:endParaRPr b="1" i="0" sz="13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Full-stand automated memory processing.</a:t>
            </a:r>
            <a:endParaRPr b="1" i="0" sz="28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23316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bug_report</a:t>
            </a:r>
            <a:endParaRPr b="1" i="0" sz="28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Debugging Protocol</a:t>
            </a:r>
            <a:endParaRPr b="1" i="0" sz="10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6 Steps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Systematic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Structured error isolation and resolution framework.</a:t>
            </a:r>
            <a:endParaRPr b="1" i="0" sz="28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898398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endParaRPr b="1" i="0" sz="2800" u="none" strike="noStrike">
              <a:solidFill>
                <a:srgbClr val="4F46E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Defensive Code Guard</a:t>
            </a:r>
            <a:endParaRPr b="1" i="0" sz="1000" u="none" strike="noStrike">
              <a:solidFill>
                <a:srgbClr val="4F46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GOAL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Manual Fixes</a:t>
            </a:r>
            <a:endParaRPr b="1" i="0" sz="1300" u="none" strike="noStrike">
              <a:solidFill>
                <a:srgbClr val="4F46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100% automated assertion boundary checking.</a:t>
            </a:r>
            <a:endParaRPr b="1" i="0" sz="2800" u="none" strike="noStrike">
              <a:solidFill>
                <a:srgbClr val="4F46E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731520" y="381000"/>
            <a:ext cx="34290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DEFENSIVE PROGRAMMING &amp; UNITS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31520" y="838200"/>
            <a:ext cx="1072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100-Fold Unit Trap: Silent Mathematical Corruption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31520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CORRECT DIAMETER (CM)</a:t>
            </a:r>
            <a:endParaRPr b="1" i="0" sz="10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 BASELINE</a:t>
            </a:r>
            <a:endParaRPr b="1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0.0633 </a:t>
            </a:r>
            <a:r>
              <a:rPr b="1" i="0" lang="en-US" sz="2000" u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047857"/>
                </a:solidFill>
                <a:latin typeface="Courier New"/>
                <a:ea typeface="Courier New"/>
                <a:cs typeface="Courier New"/>
                <a:sym typeface="Courier New"/>
              </a:rPr>
              <a:t>Formula: BA = pi * (28.4)^2 / 40000</a:t>
            </a:r>
            <a:endParaRPr b="0" i="0" sz="1000" u="none" strike="noStrike">
              <a:solidFill>
                <a:srgbClr val="0478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Tree DBH = 28.4 cm correctly produces valid basal area of 0.0633 m².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429125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warning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THE MILLIMETER DISASTER</a:t>
            </a:r>
            <a:endParaRPr b="1" i="0" sz="10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100X MAGNIFICATION TRAP</a:t>
            </a:r>
            <a:endParaRPr b="1" i="0" sz="9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6.33 </a:t>
            </a:r>
            <a:r>
              <a:rPr b="1" i="0" lang="en-US" sz="2000" u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Entering DBH = 284 mm into a centimeter formula magnifies basal area by 100x!</a:t>
            </a:r>
            <a:endParaRPr b="1" i="0" sz="1100" u="none" strike="noStrike">
              <a:solidFill>
                <a:srgbClr val="99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single stem exceeds the area of a large house, skewing total stand biomass.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26730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endParaRPr b="0" i="0" sz="32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THE AUTOMATED ASSERTION GUARD</a:t>
            </a:r>
            <a:endParaRPr b="1" i="0" sz="10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DEFENSIVE CODE GUARD</a:t>
            </a:r>
            <a:endParaRPr b="1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stopifnot()</a:t>
            </a:r>
            <a:endParaRPr b="1" i="0" sz="2600" u="none" strike="noStrike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Code must assert domain bounds before calculation:</a:t>
            </a:r>
            <a:endParaRPr b="0" i="0" sz="1050" u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if (any(dbh &gt; 400 | dbh &lt; 5)) {</a:t>
            </a:r>
            <a:b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  stop('Biological DBH violation!')</a:t>
            </a:r>
            <a:b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strike="noStrike">
              <a:solidFill>
                <a:srgbClr val="B4530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Catch errors before they corrupt models.</a:t>
            </a:r>
            <a:endParaRPr b="0" i="0" sz="32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731520" y="365760"/>
            <a:ext cx="23814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 EXECUTION ARCHITECTURE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31520" y="781050"/>
            <a:ext cx="1072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Vectorized Operations vs. The Scalar 'if' Trap in R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SCALAR 'IF' STATEMENT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Length-1 Check Only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Syntax: if (dbh &gt; 30) { ... }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In R, standard 'if' evaluates ONLY the first tree in the vector!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Subsequent 4,999 trees are completely ignored without warning.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Causes silent bias and false logical decisions across entire plots.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✅ VECTORIZED ASSERTIONS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ifelse() &amp; any() / all()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Syntax: ifelse(dbh &gt; 30, 'Canopy', 'Understory')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Evaluates all 5,000 tree stems simultaneously.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Uses SIMD-style vector primitives for 100x faster execution.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Use 'any(is.na(dbh))' or 'all(dbh &gt; 0)' for stand-wide logical audits.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STRUCTURES IN R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Forest Inventory Data Types: Preventing Type Coercion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31520" y="1645920"/>
            <a:ext cx="24765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NUMERIC (DOUBLE)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Examples: DBH, Height, BA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Stores continuous measurements. Never format with commas ('1,200') which coerces columns to text.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482263" y="1645920"/>
            <a:ext cx="24765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Examples: Stem Count, Plot No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Discrete counts. Preserves memory across millions of inventory stems.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233007" y="1645920"/>
            <a:ext cx="24765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Examples: Species, Canopy Stratum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Categorical variables with fixed levels. Prevents misspelled taxa (e.g. 'Shorea robusta' vs 'shorea robusta').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983751" y="1645920"/>
            <a:ext cx="24765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 b="1" i="0" sz="93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Examples: Is_Alive, Rotten_Core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Boolean TRUE/FALSE flags. Enables instant vector filtering: inventory[inventory$Is_Alive, ].</a:t>
            </a:r>
            <a:endParaRPr b="1" i="0" sz="93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SYSTEMATIC CODE TROUBLESHOOTING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731520" y="777240"/>
            <a:ext cx="1072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6-Step Systematic Debugging Protocol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3152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READ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the exact error message and call stack without panic.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37007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ISOLATE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 minimal reproducible example (reprex) with 3 tree rows.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800862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TYPES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Check variable structures using str() and typeof().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73152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04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TRACE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Insert print() statements or browser() before the error line.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37007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05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SOLVE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Apply vectorized fix or boundary guard assertion.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800862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06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TEST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full stand dataset to ensure regression did not occur.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MODULAR PROGRAMMING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Encapsulating Forestry Allometry into Reusable Functions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COPY-PASTE SPREAD OF FORMULAS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Duplication Risk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Copying 'pi * dbh^2 / 40000' across 50 scripts creates severe maintenance debt.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If the formula is updated (e.g. adding bark deduction), 49 scripts remain broken.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Violates the DRY (Don't Repeat Yourself) principle.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✅ REUSABLE PARAMETERIZED FUNCTION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79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calculate_basal_area()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calculate_ba &lt;- function(dbh, unit = 'cm') {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if (unit == 'mm') dbh &lt;- dbh / 10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stopifnot(dbh &gt; 0)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return(pi * dbh^2 / 40000)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Centralizes allometric logic.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Enforces automatic unit conversion and domain assertion.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TABULAR DATA STANDARDS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731520" y="777240"/>
            <a:ext cx="1072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Tidy Data Principles for Forest Inventory Tables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731520" y="1645920"/>
            <a:ext cx="32919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RULE 1: EACH STEM IS A ROW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06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Unique Observation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Every single row in the data frame represents exactly one measured tree or plot entity.</a:t>
            </a:r>
            <a:b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Never combine multi-stem clump measurements into one row cell.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4389120" y="1645920"/>
            <a:ext cx="32919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RULE 2: EACH ATTRIBUTE IS A COLUMN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Distinct Variable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Plot_ID, Stem_ID, Species, DBH_cm, Height_m, Decay_Class must each occupy distinct columns with explicit data types.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8046720" y="1645920"/>
            <a:ext cx="34134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RULE 3: ONE OBSERVATION LEVEL PER TABLE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Relational Integrity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Tree-level measurements belong in tree_data.csv.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Plot-level coordinates and slope belong in plot_metadata.csv.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Joined by Plot_ID key.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UNIT II SYNTHESIS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Summary: Core Programming Rules for Foresters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DEFENSIVE HABITS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Never Trust Input Data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1. Always inspect column structures with str() and summary().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2. Use vectorized assertions to verify biological boundaries (5 &lt;= DBH &lt;= 350).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 Avoid scalar 'if' for multi-tree operations.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4. Save custom functions in R/ directory scripts.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THE AUTOMATION PAYOFF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5,000 Stems in 0.02s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By vectorizing calculations: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100 forest inventory plots process in milliseconds.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Human transcription errors are eliminated.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The entire dataset can be audited by external reviewers instantly.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