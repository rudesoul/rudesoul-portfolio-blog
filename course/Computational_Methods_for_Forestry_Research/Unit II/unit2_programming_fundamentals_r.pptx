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Introduce Unit II. Emphasize that programming in forestry is not about writing software, but creating reproducible mathematical calculations that prevent silent numerical corruption.</a:t>
            </a:r>
            <a:endParaRPr/>
          </a:p>
        </p:txBody>
      </p:sp>
      <p:sp>
        <p:nvSpPr>
          <p:cNvPr id="84" name="Google Shape;8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5c1a65623f179f10_12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5c1a65623f179f10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Discuss how silent unit errors are the most dangerous in forestry because scripts run to completion without error messages.</a:t>
            </a:r>
            <a:endParaRPr/>
          </a:p>
        </p:txBody>
      </p:sp>
      <p:sp>
        <p:nvSpPr>
          <p:cNvPr id="104" name="Google Shape;10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Contrast R's vectorized nature with traditional programming languages like C or Python loops.</a:t>
            </a:r>
            <a:endParaRPr/>
          </a:p>
        </p:txBody>
      </p:sp>
      <p:sp>
        <p:nvSpPr>
          <p:cNvPr id="114" name="Google Shape;11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Review how factors enforce valid taxonomic names and prevent silent typos from creating ghost species.</a:t>
            </a:r>
            <a:endParaRPr/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46b11b5f327210a8_9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46b11b5f327210a8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46b11b5f327210a8_8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h46b11b5f327210a8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 students never to guess solutions. Follow the 6-step diagnostic protocol.</a:t>
            </a:r>
            <a:endParaRPr/>
          </a:p>
        </p:txBody>
      </p:sp>
      <p:sp>
        <p:nvSpPr>
          <p:cNvPr id="158" name="Google Shape;15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Demonstrate how packaging equations into custom functions prevents widespread calculation errors.</a:t>
            </a:r>
            <a:endParaRPr/>
          </a:p>
        </p:txBody>
      </p:sp>
      <p:sp>
        <p:nvSpPr>
          <p:cNvPr id="171" name="Google Shape;17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tidy data principles (Wickham 2014) in the context of forest inventories.</a:t>
            </a:r>
            <a:endParaRPr/>
          </a:p>
        </p:txBody>
      </p:sp>
      <p:sp>
        <p:nvSpPr>
          <p:cNvPr id="180" name="Google Shape;18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Conclude Unit II and introduce Unit III (Data Cleaning and APIs).</a:t>
            </a:r>
            <a:endParaRPr/>
          </a:p>
        </p:txBody>
      </p:sp>
      <p:sp>
        <p:nvSpPr>
          <p:cNvPr id="190" name="Google Shape;19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5c1a65623f179f10_11_0)">
  <p:cSld name="Generated (h5c1a65623f179f10_11_0)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/>
          <p:nvPr/>
        </p:nvSpPr>
        <p:spPr>
          <a:xfrm>
            <a:off x="731520" y="533400"/>
            <a:ext cx="4000500" cy="342900"/>
          </a:xfrm>
          <a:prstGeom prst="roundRect">
            <a:avLst>
              <a:gd fmla="val 44444" name="adj"/>
            </a:avLst>
          </a:prstGeom>
          <a:solidFill>
            <a:srgbClr val="E2E8F0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152400" spcFirstLastPara="1" rIns="152400" wrap="square" tIns="3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TRIBHUVAN UNIVERSITY • INSTITUTE OF FORESTRY</a:t>
            </a:r>
            <a:endParaRPr b="1" sz="10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731520" y="1123950"/>
            <a:ext cx="10728900" cy="180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3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M.Sc. Forestry  |  Quantitative Methods &amp; Forest Biometrics</a:t>
            </a:r>
            <a:endParaRPr b="1" sz="1203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3885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Unit II: Programming Fundamentals in R</a:t>
            </a:r>
            <a:endParaRPr b="1" sz="1203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573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Vectorization, Control Flow, Defensive Programming, and Systematic Debugging for Forest Inventory</a:t>
            </a:r>
            <a:endParaRPr b="1" sz="1203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731520" y="3143250"/>
            <a:ext cx="3333900" cy="3143400"/>
          </a:xfrm>
          <a:prstGeom prst="roundRect">
            <a:avLst>
              <a:gd fmla="val 6060" name="adj"/>
            </a:avLst>
          </a:prstGeom>
          <a:solidFill>
            <a:srgbClr val="FFFFFF"/>
          </a:solidFill>
          <a:ln cap="flat" cmpd="sng" w="95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8600" lIns="209550" spcFirstLastPara="1" rIns="20955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9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terminal </a:t>
            </a:r>
            <a:endParaRPr b="1" sz="2590">
              <a:solidFill>
                <a:srgbClr val="0284C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833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MODULE OVERVIEW</a:t>
            </a:r>
            <a:endParaRPr b="1" sz="2590">
              <a:solidFill>
                <a:srgbClr val="0284C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035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Course Module</a:t>
            </a:r>
            <a:endParaRPr b="1" sz="2590">
              <a:solidFill>
                <a:srgbClr val="0284C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10833" lvl="0" marL="45720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SzPts val="1295"/>
              <a:buChar char="●"/>
            </a:pPr>
            <a:r>
              <a:rPr b="1" lang="en-US" sz="1064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Unit II: Programming Fundamentals</a:t>
            </a:r>
            <a:endParaRPr b="1" sz="2590">
              <a:solidFill>
                <a:srgbClr val="0284C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10833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en-US" sz="1064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Academic Program: M.Sc. Forestry</a:t>
            </a:r>
            <a:endParaRPr b="1" sz="2590">
              <a:solidFill>
                <a:srgbClr val="0284C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10833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en-US" sz="1064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Institution: Tribhuvan University</a:t>
            </a:r>
            <a:endParaRPr b="1" sz="2590">
              <a:solidFill>
                <a:srgbClr val="0284C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10833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en-US" sz="1064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Focus: Biometric computation in R</a:t>
            </a:r>
            <a:endParaRPr b="1" sz="2590">
              <a:solidFill>
                <a:srgbClr val="0284C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4429125" y="3143250"/>
            <a:ext cx="3333900" cy="3143400"/>
          </a:xfrm>
          <a:prstGeom prst="roundRect">
            <a:avLst>
              <a:gd fmla="val 6060" name="adj"/>
            </a:avLst>
          </a:prstGeom>
          <a:solidFill>
            <a:srgbClr val="FFFFFF"/>
          </a:solidFill>
          <a:ln cap="flat" cmpd="sng" w="95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8600" lIns="209550" spcFirstLastPara="1" rIns="20955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9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menu_book </a:t>
            </a:r>
            <a:endParaRPr b="1" sz="2590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833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KEY TOPICS COVERED</a:t>
            </a:r>
            <a:endParaRPr b="1" sz="2590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035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Syllabus Pillars</a:t>
            </a:r>
            <a:endParaRPr b="1" sz="2590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10833" lvl="0" marL="45720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SzPts val="1295"/>
              <a:buChar char="●"/>
            </a:pPr>
            <a:r>
              <a:rPr b="1" lang="en-US" sz="1064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Atomic Vector Types &amp; Coercion</a:t>
            </a:r>
            <a:endParaRPr b="1" sz="2590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10833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en-US" sz="1064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Vectorized Logic vs. Scalar 'if'</a:t>
            </a:r>
            <a:endParaRPr b="1" sz="2590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10833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en-US" sz="1064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Unit Conversions &amp; Defensive Guards</a:t>
            </a:r>
            <a:endParaRPr b="1" sz="2590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10833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en-US" sz="1064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Modular Functions &amp; Tidy Standards</a:t>
            </a:r>
            <a:endParaRPr b="1" sz="2590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8126730" y="3143250"/>
            <a:ext cx="3333900" cy="3143400"/>
          </a:xfrm>
          <a:prstGeom prst="roundRect">
            <a:avLst>
              <a:gd fmla="val 6060" name="adj"/>
            </a:avLst>
          </a:prstGeom>
          <a:solidFill>
            <a:srgbClr val="FFFFFF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8600" lIns="209550" spcFirstLastPara="1" rIns="20955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90">
                <a:solidFill>
                  <a:srgbClr val="D9770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military_tech </a:t>
            </a:r>
            <a:endParaRPr b="1" sz="2590">
              <a:solidFill>
                <a:srgbClr val="D9770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833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CORE COMPETENCIES</a:t>
            </a:r>
            <a:endParaRPr b="1" sz="2590">
              <a:solidFill>
                <a:srgbClr val="D9770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035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Learning Outcomes</a:t>
            </a:r>
            <a:endParaRPr b="1" sz="2590">
              <a:solidFill>
                <a:srgbClr val="D9770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10833" lvl="0" marL="45720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SzPts val="1295"/>
              <a:buChar char="●"/>
            </a:pPr>
            <a:r>
              <a:rPr b="1" lang="en-US" sz="1064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Eliminate silent calculation bugs</a:t>
            </a:r>
            <a:endParaRPr b="1" sz="2590">
              <a:solidFill>
                <a:srgbClr val="D9770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10833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en-US" sz="1064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Automate 5,000+ stem inventories</a:t>
            </a:r>
            <a:endParaRPr b="1" sz="2590">
              <a:solidFill>
                <a:srgbClr val="D9770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10833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en-US" sz="1064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Master 6-step systematic debugging</a:t>
            </a:r>
            <a:endParaRPr b="1" sz="2590">
              <a:solidFill>
                <a:srgbClr val="D9770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10833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en-US" sz="1064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Build production forestry scripts</a:t>
            </a:r>
            <a:endParaRPr b="1" sz="2590">
              <a:solidFill>
                <a:srgbClr val="D9770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>
            <a:off x="731520" y="381000"/>
            <a:ext cx="3429000" cy="3048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Tribhuvan University • M.Sc. Forestry • Unit II</a:t>
            </a:r>
            <a:endParaRPr b="1" i="0" sz="10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731520" y="876300"/>
            <a:ext cx="10728900" cy="139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Programming Fundamentals in R: Vectors, Conditionals, &amp; Error Handling</a:t>
            </a:r>
            <a:endParaRPr b="1" i="0" sz="34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Moving from single pocket-calculator stem calculations to full-stand vectorized automation.</a:t>
            </a:r>
            <a:endParaRPr b="1" i="0" sz="34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731520" y="2905125"/>
            <a:ext cx="2476500" cy="32862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66700" lIns="209550" spcFirstLastPara="1" rIns="209550" wrap="square" tIns="266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strike="noStrike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analytics</a:t>
            </a:r>
            <a:endParaRPr b="1" i="0" sz="2800" u="none" strike="noStrike">
              <a:solidFill>
                <a:srgbClr val="0284C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Single Stem BA</a:t>
            </a:r>
            <a:endParaRPr b="1" i="0" sz="1000" u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BENCHMARK</a:t>
            </a:r>
            <a:endParaRPr b="0" i="0" sz="900" u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0.0633</a:t>
            </a:r>
            <a:endParaRPr b="1" i="0" sz="34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strike="noStrike">
                <a:solidFill>
                  <a:srgbClr val="0284C7"/>
                </a:solidFill>
                <a:latin typeface="Georgia"/>
                <a:ea typeface="Georgia"/>
                <a:cs typeface="Georgia"/>
                <a:sym typeface="Georgia"/>
              </a:rPr>
              <a:t>m²</a:t>
            </a:r>
            <a:endParaRPr b="1" i="0" sz="1600" u="none" strike="noStrike">
              <a:solidFill>
                <a:srgbClr val="0284C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Baseline calculation for individual tree basal area.</a:t>
            </a:r>
            <a:endParaRPr b="1" i="0" sz="2800" u="none" strike="noStrike">
              <a:solidFill>
                <a:srgbClr val="0284C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3482340" y="2905125"/>
            <a:ext cx="2476500" cy="32862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66700" lIns="209550" spcFirstLastPara="1" rIns="209550" wrap="square" tIns="266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strike="noStrike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dataset</a:t>
            </a:r>
            <a:endParaRPr b="1" i="0" sz="2800" u="none" strike="noStrike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Vectorized Inventory</a:t>
            </a:r>
            <a:endParaRPr b="1" i="0" sz="100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DATA SCALE</a:t>
            </a:r>
            <a:endParaRPr b="0" i="0" sz="900" u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5,000+</a:t>
            </a:r>
            <a:endParaRPr b="1" i="0" sz="34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Tree Rows</a:t>
            </a:r>
            <a:endParaRPr b="1" i="0" sz="130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Full-stand automated memory processing.</a:t>
            </a:r>
            <a:endParaRPr b="1" i="0" sz="2800" u="none" strike="noStrike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6233160" y="2905125"/>
            <a:ext cx="2476500" cy="32862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66700" lIns="209550" spcFirstLastPara="1" rIns="209550" wrap="square" tIns="266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strike="noStrike">
                <a:solidFill>
                  <a:srgbClr val="D9770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bug_report</a:t>
            </a:r>
            <a:endParaRPr b="1" i="0" sz="2800" u="none" strike="noStrike">
              <a:solidFill>
                <a:srgbClr val="D9770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Debugging Protocol</a:t>
            </a:r>
            <a:endParaRPr b="1" i="0" sz="10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900" u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6 Steps</a:t>
            </a:r>
            <a:endParaRPr b="1" i="0" sz="34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Systematic</a:t>
            </a:r>
            <a:endParaRPr b="1" i="0" sz="13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Structured error isolation and resolution framework.</a:t>
            </a:r>
            <a:endParaRPr b="1" i="0" sz="2800" u="none" strike="noStrike">
              <a:solidFill>
                <a:srgbClr val="D9770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8983980" y="2905125"/>
            <a:ext cx="2476500" cy="32862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66700" lIns="209550" spcFirstLastPara="1" rIns="209550" wrap="square" tIns="266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strike="noStrike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verified_user</a:t>
            </a:r>
            <a:endParaRPr b="1" i="0" sz="2800" u="none" strike="noStrike">
              <a:solidFill>
                <a:srgbClr val="4F46E5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Defensive Code Guard</a:t>
            </a:r>
            <a:endParaRPr b="1" i="0" sz="1000" u="none" strike="noStrike">
              <a:solidFill>
                <a:srgbClr val="4F46E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TARGET GOAL</a:t>
            </a:r>
            <a:endParaRPr b="0" i="0" sz="900" u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b="1" i="0" sz="34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Manual Fixes</a:t>
            </a:r>
            <a:endParaRPr b="1" i="0" sz="1300" u="none" strike="noStrike">
              <a:solidFill>
                <a:srgbClr val="4F46E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100% automated assertion boundary checking.</a:t>
            </a:r>
            <a:endParaRPr b="1" i="0" sz="2800" u="none" strike="noStrike">
              <a:solidFill>
                <a:srgbClr val="4F46E5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/>
          <p:nvPr/>
        </p:nvSpPr>
        <p:spPr>
          <a:xfrm>
            <a:off x="731520" y="381000"/>
            <a:ext cx="3429000" cy="3048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DEFENSIVE PROGRAMMING &amp; UNITS</a:t>
            </a:r>
            <a:endParaRPr b="1" i="0" sz="10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731520" y="838200"/>
            <a:ext cx="107253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The 100-Fold Unit Trap: Silent Mathematical Corruption</a:t>
            </a:r>
            <a:endParaRPr b="1" i="0" sz="26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731520" y="1638300"/>
            <a:ext cx="3333900" cy="45720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266700" lIns="228600" spcFirstLastPara="1" rIns="228600" wrap="square" tIns="266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strike="noStrike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check_circle</a:t>
            </a:r>
            <a:endParaRPr b="0" i="0" sz="3200" u="none" strike="noStrike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CORRECT DIAMETER (CM)</a:t>
            </a:r>
            <a:endParaRPr b="1" i="0" sz="100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900" u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VALID BASELINE</a:t>
            </a:r>
            <a:endParaRPr b="1" i="0" sz="900" u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3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0.0633 </a:t>
            </a:r>
            <a:r>
              <a:rPr b="1" i="0" lang="en-US" sz="2000" u="none" strike="noStrike">
                <a:solidFill>
                  <a:srgbClr val="059669"/>
                </a:solidFill>
                <a:latin typeface="Georgia"/>
                <a:ea typeface="Georgia"/>
                <a:cs typeface="Georgia"/>
                <a:sym typeface="Georgia"/>
              </a:rPr>
              <a:t>m²</a:t>
            </a:r>
            <a:endParaRPr b="0" i="0" sz="3200" u="none" strike="noStrike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047857"/>
                </a:solidFill>
                <a:latin typeface="Courier New"/>
                <a:ea typeface="Courier New"/>
                <a:cs typeface="Courier New"/>
                <a:sym typeface="Courier New"/>
              </a:rPr>
              <a:t>Formula: BA = pi * (28.4)^2 / 40000</a:t>
            </a:r>
            <a:endParaRPr b="0" i="0" sz="1000" u="none" strike="noStrike">
              <a:solidFill>
                <a:srgbClr val="0478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Tree DBH = 28.4 cm correctly produces valid basal area of 0.0633 m².</a:t>
            </a:r>
            <a:endParaRPr b="0" i="0" sz="3200" u="none" strike="noStrike">
              <a:solidFill>
                <a:srgbClr val="05966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4429125" y="1638300"/>
            <a:ext cx="3333900" cy="45720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266700" lIns="228600" spcFirstLastPara="1" rIns="228600" wrap="square" tIns="266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strike="noStrike">
                <a:solidFill>
                  <a:srgbClr val="DC262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warning</a:t>
            </a:r>
            <a:endParaRPr b="0" i="0" sz="3200" u="none" strike="noStrike">
              <a:solidFill>
                <a:srgbClr val="DC262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THE MILLIMETER DISASTER</a:t>
            </a:r>
            <a:endParaRPr b="1" i="0" sz="10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900" u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100X MAGNIFICATION TRAP</a:t>
            </a:r>
            <a:endParaRPr b="1" i="0" sz="9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3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6.33 </a:t>
            </a:r>
            <a:r>
              <a:rPr b="1" i="0" lang="en-US" sz="2000" u="none" strike="noStrike">
                <a:solidFill>
                  <a:srgbClr val="DC2626"/>
                </a:solidFill>
                <a:latin typeface="Georgia"/>
                <a:ea typeface="Georgia"/>
                <a:cs typeface="Georgia"/>
                <a:sym typeface="Georgia"/>
              </a:rPr>
              <a:t>m²</a:t>
            </a:r>
            <a:endParaRPr b="0" i="0" sz="3200" u="none" strike="noStrike">
              <a:solidFill>
                <a:srgbClr val="DC262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Entering DBH = 284 mm into a centimeter formula magnifies basal area by 100x!</a:t>
            </a:r>
            <a:endParaRPr b="1" i="0" sz="1100" u="none" strike="noStrike">
              <a:solidFill>
                <a:srgbClr val="991B1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 single stem exceeds the area of a large house, skewing total stand biomass.</a:t>
            </a:r>
            <a:endParaRPr b="0" i="0" sz="3200" u="none" strike="noStrike">
              <a:solidFill>
                <a:srgbClr val="DC262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8126730" y="1638300"/>
            <a:ext cx="3333900" cy="45720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266700" lIns="228600" spcFirstLastPara="1" rIns="228600" wrap="square" tIns="266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strike="noStrike">
                <a:solidFill>
                  <a:srgbClr val="D9770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verified_user</a:t>
            </a:r>
            <a:endParaRPr b="0" i="0" sz="3200" u="none" strike="noStrike">
              <a:solidFill>
                <a:srgbClr val="D9770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THE AUTOMATED ASSERTION GUARD</a:t>
            </a:r>
            <a:endParaRPr b="1" i="0" sz="10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900" u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DEFENSIVE CODE GUARD</a:t>
            </a:r>
            <a:endParaRPr b="1" i="0" sz="900" u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2600" u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stopifnot()</a:t>
            </a:r>
            <a:endParaRPr b="1" i="0" sz="2600" u="none" strike="noStrike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None/>
            </a:pPr>
            <a:r>
              <a:rPr b="0" i="0" lang="en-US" sz="105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Code must assert domain bounds before calculation:</a:t>
            </a:r>
            <a:endParaRPr b="0" i="0" sz="1050" u="none" strike="noStrike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950" u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if (any(dbh &gt; 400 | dbh &lt; 5)) {</a:t>
            </a:r>
            <a:br>
              <a:rPr b="0" i="0" lang="en-US" sz="950" u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50" u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  stop('Biological DBH violation!')</a:t>
            </a:r>
            <a:br>
              <a:rPr b="0" i="0" lang="en-US" sz="950" u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50" u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50" u="none" strike="noStrike">
              <a:solidFill>
                <a:srgbClr val="B4530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Catch errors before they corrupt models.</a:t>
            </a:r>
            <a:endParaRPr b="0" i="0" sz="3200" u="none" strike="noStrike">
              <a:solidFill>
                <a:srgbClr val="D9770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731520" y="365760"/>
            <a:ext cx="2381400" cy="3048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 EXECUTION ARCHITECTURE</a:t>
            </a:r>
            <a:endParaRPr b="1" i="0" sz="10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731520" y="781050"/>
            <a:ext cx="107253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Vectorized Operations vs. The Scalar 'if' Trap in R</a:t>
            </a:r>
            <a:endParaRPr b="1" i="0" sz="26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731520" y="1645920"/>
            <a:ext cx="51207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5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❌ SCALAR 'IF' STATEMENT</a:t>
            </a:r>
            <a:endParaRPr b="1" i="0" sz="12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3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Length-1 Check Only</a:t>
            </a:r>
            <a:endParaRPr b="1" i="0" sz="12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Syntax: if (dbh &gt; 30) { ... }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In R, standard 'if' evaluates ONLY the first tree in the vector!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Subsequent 4,999 trees are completely ignored without warning.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Causes silent bias and false logical decisions across entire plots.</a:t>
            </a:r>
            <a:endParaRPr b="1" i="0" sz="12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6217920" y="1645920"/>
            <a:ext cx="52422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5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✅ VECTORIZED ASSERTIONS</a:t>
            </a:r>
            <a:endParaRPr b="1" i="0" sz="120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3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ifelse() &amp; any() / all()</a:t>
            </a:r>
            <a:endParaRPr b="1" i="0" sz="120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Syntax: ifelse(dbh &gt; 30, 'Canopy', 'Understory')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Evaluates all 5,000 tree stems simultaneously.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Uses SIMD-style vector primitives for 100x faster execution.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Use 'any(is.na(dbh))' or 'all(dbh &gt; 0)' for stand-wide logical audits.</a:t>
            </a:r>
            <a:endParaRPr b="1" i="0" sz="120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/>
          <p:nvPr/>
        </p:nvSpPr>
        <p:spPr>
          <a:xfrm>
            <a:off x="731520" y="365760"/>
            <a:ext cx="3840600" cy="320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DATA STRUCTURES IN R</a:t>
            </a:r>
            <a:endParaRPr b="1" i="0" sz="11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731520" y="777240"/>
            <a:ext cx="10728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Forest Inventory Data Types: Preventing Type Coercion</a:t>
            </a:r>
            <a:endParaRPr b="1" i="0" sz="26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731520" y="1790700"/>
            <a:ext cx="2476500" cy="426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266700" lIns="209550" spcFirstLastPara="1" rIns="209550" wrap="square" tIns="323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NUMERIC (DOUBLE)</a:t>
            </a:r>
            <a:endParaRPr b="1" i="0" sz="1300" u="non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b="1" i="0" lang="en-US" sz="1200" u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b="1" i="0" sz="1300" u="non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DBH (cm), Total Height (m), Basal Area per Tree (m²)</a:t>
            </a:r>
            <a:endParaRPr b="1" i="0" sz="1300" u="non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i="0" lang="en-US" sz="1200" u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Rule:</a:t>
            </a:r>
            <a:endParaRPr b="1" i="0" sz="1300" u="non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500"/>
              </a:spcBef>
              <a:spcAft>
                <a:spcPts val="1400"/>
              </a:spcAft>
              <a:buNone/>
            </a:pPr>
            <a:r>
              <a:rPr b="0" i="0" lang="en-US" sz="1200" u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Continuous real measurements. Never enter commas ('1,200'), which silently coerces numeric columns into character strings.</a:t>
            </a:r>
            <a:endParaRPr b="1" i="0" sz="1300" u="non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3482263" y="1790700"/>
            <a:ext cx="2476500" cy="426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266700" lIns="209550" spcFirstLastPara="1" rIns="209550" wrap="square" tIns="323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INTEGER</a:t>
            </a:r>
            <a:endParaRPr b="1" i="0" sz="1300" u="non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b="1" i="0" lang="en-US" sz="1200" u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b="1" i="0" sz="1300" u="non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Stem Count, Plot Record ID, Live Tree Tally Number</a:t>
            </a:r>
            <a:endParaRPr b="1" i="0" sz="1300" u="non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i="0" lang="en-US" sz="1200" u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Rule:</a:t>
            </a:r>
            <a:endParaRPr b="1" i="0" sz="1300" u="non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500"/>
              </a:spcBef>
              <a:spcAft>
                <a:spcPts val="1400"/>
              </a:spcAft>
              <a:buNone/>
            </a:pPr>
            <a:r>
              <a:rPr b="0" i="0" lang="en-US" sz="1200" u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Discrete whole counts (42L). Conserves memory across plots and prevents fractional stems in stand inventory tables.</a:t>
            </a:r>
            <a:endParaRPr b="1" i="0" sz="1300" u="non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6233007" y="1790700"/>
            <a:ext cx="2476500" cy="426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266700" lIns="209550" spcFirstLastPara="1" rIns="209550" wrap="square" tIns="323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FACTOR</a:t>
            </a:r>
            <a:endParaRPr b="1" i="0" sz="1300" u="non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b="1" i="0" lang="en-US" sz="1200" u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b="1" i="0" sz="1300" u="non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Species Code, Forest Type, Canopy Stratum Class</a:t>
            </a:r>
            <a:endParaRPr b="1" i="0" sz="1300" u="non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i="0" lang="en-US" sz="1200" u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Rule:</a:t>
            </a:r>
            <a:endParaRPr b="1" i="0" sz="1300" u="non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500"/>
              </a:spcBef>
              <a:spcAft>
                <a:spcPts val="1400"/>
              </a:spcAft>
              <a:buNone/>
            </a:pPr>
            <a:r>
              <a:rPr b="0" i="0" lang="en-US" sz="1200" u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Categorical fixed levels. Enforces taxonomic naming and prevents silent typos (e.g., 'Shorea' vs 'shorea').</a:t>
            </a:r>
            <a:endParaRPr b="1" i="0" sz="1300" u="non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8983751" y="1790700"/>
            <a:ext cx="2476500" cy="4267200"/>
          </a:xfrm>
          <a:prstGeom prst="roundRect">
            <a:avLst>
              <a:gd fmla="val 16666" name="adj"/>
            </a:avLst>
          </a:prstGeom>
          <a:solidFill>
            <a:srgbClr val="FFFFFF"/>
          </a:solidFill>
          <a:ln cap="flat" cmpd="sng" w="95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266700" lIns="209550" spcFirstLastPara="1" rIns="209550" wrap="square" tIns="323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LOGICAL</a:t>
            </a:r>
            <a:endParaRPr b="1" i="0" sz="1300" u="non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b="1" i="0" lang="en-US" sz="1200" u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b="1" i="0" sz="1300" u="non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Is_Alive, Has_Rotten_Core, Crown_Sampled Flag</a:t>
            </a:r>
            <a:endParaRPr b="1" i="0" sz="1300" u="non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i="0" lang="en-US" sz="1200" u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Rule:</a:t>
            </a:r>
            <a:endParaRPr b="1" i="0" sz="1300" u="non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500"/>
              </a:spcBef>
              <a:spcAft>
                <a:spcPts val="1400"/>
              </a:spcAft>
              <a:buNone/>
            </a:pPr>
            <a:r>
              <a:rPr b="0" i="0" lang="en-US" sz="1200" u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Boolean TRUE / FALSE flags. Enforces binary conditions; enables rapid vector filtering: inventory[Is_Alive, ].</a:t>
            </a:r>
            <a:endParaRPr b="1" i="0" sz="1300" u="non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/>
        </p:nvSpPr>
        <p:spPr>
          <a:xfrm>
            <a:off x="731520" y="365760"/>
            <a:ext cx="3238500" cy="320100"/>
          </a:xfrm>
          <a:prstGeom prst="roundRect">
            <a:avLst>
              <a:gd fmla="val 47618" name="adj"/>
            </a:avLst>
          </a:prstGeom>
          <a:solidFill>
            <a:srgbClr val="E2E8F0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95250" spcFirstLastPara="1" rIns="9525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DATA VISUALIZATION IN R • PART I</a:t>
            </a:r>
            <a:endParaRPr b="1" i="0" sz="10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731520" y="777240"/>
            <a:ext cx="10728900" cy="73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Core Distribution Plots: hist(), boxplot(), &amp; stripchart()</a:t>
            </a:r>
            <a:endParaRPr b="0" i="0" sz="23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Selecting the right graph, diagnosing stand structure, and tuning parameters for univariate distributions.</a:t>
            </a:r>
            <a:endParaRPr b="0" i="0" sz="23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8060055" y="1638300"/>
            <a:ext cx="3400500" cy="3219600"/>
          </a:xfrm>
          <a:prstGeom prst="roundRect">
            <a:avLst>
              <a:gd fmla="val 4142" name="adj"/>
            </a:avLst>
          </a:prstGeom>
          <a:solidFill>
            <a:srgbClr val="FFFFFF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350" lIns="152400" spcFirstLastPara="1" rIns="152400" wrap="square" tIns="133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strike="noStrike">
                <a:solidFill>
                  <a:srgbClr val="D97706"/>
                </a:solidFill>
                <a:latin typeface="Courier New"/>
                <a:ea typeface="Courier New"/>
                <a:cs typeface="Courier New"/>
                <a:sym typeface="Courier New"/>
              </a:rPr>
              <a:t>stripchart(formula, ...)</a:t>
            </a:r>
            <a:endParaRPr b="1" i="0" sz="1600" u="none" strike="noStrike">
              <a:solidFill>
                <a:srgbClr val="D9770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00" u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INPUT: </a:t>
            </a:r>
            <a:r>
              <a:rPr b="0" i="0" lang="en-US" sz="85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 Continuous ~ 1 Categorical (dbh ~ species)</a:t>
            </a:r>
            <a:endParaRPr b="1" i="0" sz="1600" u="none" strike="noStrike">
              <a:solidFill>
                <a:srgbClr val="D9770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78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FORESTRY APPLICATION (WHEN &amp; WHY)</a:t>
            </a:r>
            <a:endParaRPr b="1" i="0" sz="1600" u="none" strike="noStrike">
              <a:solidFill>
                <a:srgbClr val="D9770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8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Overlay on boxplot() (add = TRUE) when sample size is small (n &lt; 50) so students see the exact trees behind the box summary.</a:t>
            </a:r>
            <a:endParaRPr b="1" i="0" sz="1600" u="none" strike="noStrike">
              <a:solidFill>
                <a:srgbClr val="D9770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78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TOP PARAMETERS TO TWEAK IN CLASS</a:t>
            </a:r>
            <a:endParaRPr b="1" i="0" sz="1600" u="none" strike="noStrike">
              <a:solidFill>
                <a:srgbClr val="D9770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3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method = "jitter"</a:t>
            </a:r>
            <a:r>
              <a:rPr b="0" i="0" lang="en-US" sz="83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(prevent point overlap)</a:t>
            </a:r>
            <a:endParaRPr b="1" i="0" sz="1600" u="none" strike="noStrike">
              <a:solidFill>
                <a:srgbClr val="D9770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3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jitter = 0.15</a:t>
            </a:r>
            <a:r>
              <a:rPr b="0" i="0" lang="en-US" sz="83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(horizontal spread width factor)</a:t>
            </a:r>
            <a:endParaRPr b="1" i="0" sz="1600" u="none" strike="noStrike">
              <a:solidFill>
                <a:srgbClr val="D9770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3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pch = 19</a:t>
            </a:r>
            <a:r>
              <a:rPr b="0" i="0" lang="en-US" sz="83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(clean solid dot symbol)</a:t>
            </a:r>
            <a:endParaRPr b="1" i="0" sz="1600" u="none" strike="noStrike">
              <a:solidFill>
                <a:srgbClr val="D9770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b="1" i="0" lang="en-US" sz="83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add = TRUE, vertical</a:t>
            </a:r>
            <a:r>
              <a:rPr b="0" i="0" lang="en-US" sz="83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(overlay on active boxplot)</a:t>
            </a:r>
            <a:endParaRPr b="1" i="0" sz="1600" u="none" strike="noStrike">
              <a:solidFill>
                <a:srgbClr val="D9770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4395788" y="1638300"/>
            <a:ext cx="3400500" cy="3219600"/>
          </a:xfrm>
          <a:prstGeom prst="roundRect">
            <a:avLst>
              <a:gd fmla="val 4142" name="adj"/>
            </a:avLst>
          </a:prstGeom>
          <a:solidFill>
            <a:srgbClr val="FFFFFF"/>
          </a:solidFill>
          <a:ln cap="flat" cmpd="sng" w="95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350" lIns="152400" spcFirstLastPara="1" rIns="152400" wrap="square" tIns="133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strike="noStrike">
                <a:solidFill>
                  <a:srgbClr val="059669"/>
                </a:solidFill>
                <a:latin typeface="Courier New"/>
                <a:ea typeface="Courier New"/>
                <a:cs typeface="Courier New"/>
                <a:sym typeface="Courier New"/>
              </a:rPr>
              <a:t>boxplot(formula, ...)</a:t>
            </a:r>
            <a:endParaRPr b="1" i="0" sz="1600" u="none" strike="noStrike">
              <a:solidFill>
                <a:srgbClr val="0596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00" u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INPUT: </a:t>
            </a:r>
            <a:r>
              <a:rPr b="0" i="0" lang="en-US" sz="85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 Continuous ~ 1 Categorical (dbh ~ species)</a:t>
            </a:r>
            <a:endParaRPr b="1" i="0" sz="1600" u="none" strike="noStrike">
              <a:solidFill>
                <a:srgbClr val="0596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780" u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FORESTRY APPLICATION (WHEN &amp; WHY)</a:t>
            </a:r>
            <a:endParaRPr b="1" i="0" sz="1600" u="none" strike="noStrike">
              <a:solidFill>
                <a:srgbClr val="0596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8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Compare medians, 25th–75th percentile spread (IQR), symmetry, and outliers across species, plots, or forest stands.</a:t>
            </a:r>
            <a:endParaRPr b="1" i="0" sz="1600" u="none" strike="noStrike">
              <a:solidFill>
                <a:srgbClr val="0596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780" u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TOP PARAMETERS TO TWEAK IN CLASS</a:t>
            </a:r>
            <a:endParaRPr b="1" i="0" sz="1600" u="none" strike="noStrike">
              <a:solidFill>
                <a:srgbClr val="0596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3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horizontal = TRUE</a:t>
            </a:r>
            <a:r>
              <a:rPr b="0" i="0" lang="en-US" sz="83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(readable species labels)</a:t>
            </a:r>
            <a:endParaRPr b="1" i="0" sz="1600" u="none" strike="noStrike">
              <a:solidFill>
                <a:srgbClr val="0596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3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varwidth = TRUE</a:t>
            </a:r>
            <a:r>
              <a:rPr b="0" i="0" lang="en-US" sz="83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(box width ∝ √n sample size)</a:t>
            </a:r>
            <a:endParaRPr b="1" i="0" sz="1600" u="none" strike="noStrike">
              <a:solidFill>
                <a:srgbClr val="0596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3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notch = TRUE</a:t>
            </a:r>
            <a:r>
              <a:rPr b="0" i="0" lang="en-US" sz="83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(median 95% CI comparison)</a:t>
            </a:r>
            <a:endParaRPr b="1" i="0" sz="1600" u="none" strike="noStrike">
              <a:solidFill>
                <a:srgbClr val="0596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b="1" i="0" lang="en-US" sz="83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las = 2, boxwex</a:t>
            </a:r>
            <a:r>
              <a:rPr b="0" i="0" lang="en-US" sz="83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(vertical labels &amp; width scale)</a:t>
            </a:r>
            <a:endParaRPr b="1" i="0" sz="1600" u="none" strike="noStrike">
              <a:solidFill>
                <a:srgbClr val="05966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731520" y="1638300"/>
            <a:ext cx="3400500" cy="3219600"/>
          </a:xfrm>
          <a:prstGeom prst="roundRect">
            <a:avLst>
              <a:gd fmla="val 4142" name="adj"/>
            </a:avLst>
          </a:prstGeom>
          <a:solidFill>
            <a:srgbClr val="FFFFFF"/>
          </a:solidFill>
          <a:ln cap="flat" cmpd="sng" w="95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350" lIns="152400" spcFirstLastPara="1" rIns="152400" wrap="square" tIns="133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strike="noStrike">
                <a:solidFill>
                  <a:srgbClr val="0284C7"/>
                </a:solidFill>
                <a:latin typeface="Courier New"/>
                <a:ea typeface="Courier New"/>
                <a:cs typeface="Courier New"/>
                <a:sym typeface="Courier New"/>
              </a:rPr>
              <a:t>hist(x, ...)</a:t>
            </a:r>
            <a:endParaRPr b="1" i="0" sz="1600" u="none" strike="noStrike">
              <a:solidFill>
                <a:srgbClr val="0284C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00" u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INPUT: </a:t>
            </a:r>
            <a:r>
              <a:rPr b="0" i="0" lang="en-US" sz="85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 Continuous (dbh_cm, height_m)</a:t>
            </a:r>
            <a:endParaRPr b="1" i="0" sz="1600" u="none" strike="noStrike">
              <a:solidFill>
                <a:srgbClr val="0284C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780" u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FORESTRY APPLICATION (WHEN &amp; WHY)</a:t>
            </a:r>
            <a:endParaRPr b="1" i="0" sz="1600" u="none" strike="noStrike">
              <a:solidFill>
                <a:srgbClr val="0284C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8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Check stand structure (inverse-J regeneration vs. even-aged bell curve), skewness, and unit anomalies or outliers.</a:t>
            </a:r>
            <a:endParaRPr b="1" i="0" sz="1600" u="none" strike="noStrike">
              <a:solidFill>
                <a:srgbClr val="0284C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780" u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TOP PARAMETERS TO TWEAK IN CLASS</a:t>
            </a:r>
            <a:endParaRPr b="1" i="0" sz="1600" u="none" strike="noStrike">
              <a:solidFill>
                <a:srgbClr val="0284C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3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breaks</a:t>
            </a:r>
            <a:r>
              <a:rPr b="0" i="0" lang="en-US" sz="83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(bin count or break vector)</a:t>
            </a:r>
            <a:endParaRPr b="1" i="0" sz="1600" u="none" strike="noStrike">
              <a:solidFill>
                <a:srgbClr val="0284C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3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freq = FALSE</a:t>
            </a:r>
            <a:r>
              <a:rPr b="0" i="0" lang="en-US" sz="83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(density scale for overlays)</a:t>
            </a:r>
            <a:endParaRPr b="1" i="0" sz="1600" u="none" strike="noStrike">
              <a:solidFill>
                <a:srgbClr val="0284C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3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labels = TRUE</a:t>
            </a:r>
            <a:r>
              <a:rPr b="0" i="0" lang="en-US" sz="83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(print tree counts on bars)</a:t>
            </a:r>
            <a:endParaRPr b="1" i="0" sz="1600" u="none" strike="noStrike">
              <a:solidFill>
                <a:srgbClr val="0284C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b="1" i="0" lang="en-US" sz="83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xlim, ylim, col</a:t>
            </a:r>
            <a:r>
              <a:rPr b="0" i="0" lang="en-US" sz="83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(axis bounds &amp; bar styling)</a:t>
            </a:r>
            <a:endParaRPr b="1" i="0" sz="1600" u="none" strike="noStrike">
              <a:solidFill>
                <a:srgbClr val="0284C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40" name="Google Shape;14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832" y="4953000"/>
            <a:ext cx="33549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8564" y="4953000"/>
            <a:ext cx="33549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97" y="4953000"/>
            <a:ext cx="33549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/>
          <p:nvPr/>
        </p:nvSpPr>
        <p:spPr>
          <a:xfrm>
            <a:off x="731520" y="365760"/>
            <a:ext cx="3238500" cy="320100"/>
          </a:xfrm>
          <a:prstGeom prst="roundRect">
            <a:avLst>
              <a:gd fmla="val 47618" name="adj"/>
            </a:avLst>
          </a:prstGeom>
          <a:solidFill>
            <a:srgbClr val="E2E8F0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95250" spcFirstLastPara="1" rIns="9525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DATA VISUALIZATION IN R • PART II</a:t>
            </a:r>
            <a:endParaRPr b="1" i="0" sz="10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731520" y="777240"/>
            <a:ext cx="10728900" cy="73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Relationships &amp; Compositions: plot(), barplot(), &amp; pairs()</a:t>
            </a:r>
            <a:endParaRPr b="0" i="0" sz="23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Visualizing tree allometry curves, categorical inventory shares, and multi-variable correlation matrices.</a:t>
            </a:r>
            <a:endParaRPr b="0" i="0" sz="23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8060055" y="1638300"/>
            <a:ext cx="3400500" cy="3219600"/>
          </a:xfrm>
          <a:prstGeom prst="roundRect">
            <a:avLst>
              <a:gd fmla="val 4142" name="adj"/>
            </a:avLst>
          </a:prstGeom>
          <a:solidFill>
            <a:srgbClr val="FFFFFF"/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350" lIns="152400" spcFirstLastPara="1" rIns="152400" wrap="square" tIns="133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strike="noStrike">
                <a:solidFill>
                  <a:srgbClr val="4F46E5"/>
                </a:solidFill>
                <a:latin typeface="Courier New"/>
                <a:ea typeface="Courier New"/>
                <a:cs typeface="Courier New"/>
                <a:sym typeface="Courier New"/>
              </a:rPr>
              <a:t>pairs(formula, ...)</a:t>
            </a:r>
            <a:endParaRPr b="1" i="0" sz="1600" u="none" strike="noStrike">
              <a:solidFill>
                <a:srgbClr val="4F46E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00" u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INPUT: </a:t>
            </a:r>
            <a:r>
              <a:rPr b="0" i="0" lang="en-US" sz="85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3+ Continuous (dbh_cm, height_m, ba_m2)</a:t>
            </a:r>
            <a:endParaRPr b="1" i="0" sz="1600" u="none" strike="noStrike">
              <a:solidFill>
                <a:srgbClr val="4F46E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780" u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FORESTRY APPLICATION (WHEN &amp; WHY)</a:t>
            </a:r>
            <a:endParaRPr b="1" i="0" sz="1600" u="none" strike="noStrike">
              <a:solidFill>
                <a:srgbClr val="4F46E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8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Instant correlation scan across all numeric columns to detect linear vs. power-law scaling (e.g., Basal Area ∝ DBH²).</a:t>
            </a:r>
            <a:endParaRPr b="1" i="0" sz="1600" u="none" strike="noStrike">
              <a:solidFill>
                <a:srgbClr val="4F46E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780" u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TOP PARAMETERS TO TWEAK IN CLASS</a:t>
            </a:r>
            <a:endParaRPr b="1" i="0" sz="1600" u="none" strike="noStrike">
              <a:solidFill>
                <a:srgbClr val="4F46E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3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panel = panel.smooth</a:t>
            </a:r>
            <a:r>
              <a:rPr b="0" i="0" lang="en-US" sz="83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(spline loess trend fit)</a:t>
            </a:r>
            <a:endParaRPr b="1" i="0" sz="1600" u="none" strike="noStrike">
              <a:solidFill>
                <a:srgbClr val="4F46E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3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col, pch = 20</a:t>
            </a:r>
            <a:r>
              <a:rPr b="0" i="0" lang="en-US" sz="83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(marker transparency &amp; point size)</a:t>
            </a:r>
            <a:endParaRPr b="1" i="0" sz="1600" u="none" strike="noStrike">
              <a:solidFill>
                <a:srgbClr val="4F46E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3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lower.panel = NULL</a:t>
            </a:r>
            <a:r>
              <a:rPr b="0" i="0" lang="en-US" sz="83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(drop redundant mirror half)</a:t>
            </a:r>
            <a:endParaRPr b="1" i="0" sz="1600" u="none" strike="noStrike">
              <a:solidFill>
                <a:srgbClr val="4F46E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b="1" i="0" lang="en-US" sz="83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cex.labels</a:t>
            </a:r>
            <a:r>
              <a:rPr b="0" i="0" lang="en-US" sz="83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(diagonal variable font size)</a:t>
            </a:r>
            <a:endParaRPr b="1" i="0" sz="1600" u="none" strike="noStrike">
              <a:solidFill>
                <a:srgbClr val="4F46E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4395788" y="1638300"/>
            <a:ext cx="3400500" cy="3219600"/>
          </a:xfrm>
          <a:prstGeom prst="roundRect">
            <a:avLst>
              <a:gd fmla="val 4142" name="adj"/>
            </a:avLst>
          </a:prstGeom>
          <a:solidFill>
            <a:srgbClr val="FFFFFF"/>
          </a:solidFill>
          <a:ln cap="flat" cmpd="sng" w="95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350" lIns="152400" spcFirstLastPara="1" rIns="152400" wrap="square" tIns="133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strike="noStrike">
                <a:solidFill>
                  <a:srgbClr val="059669"/>
                </a:solidFill>
                <a:latin typeface="Courier New"/>
                <a:ea typeface="Courier New"/>
                <a:cs typeface="Courier New"/>
                <a:sym typeface="Courier New"/>
              </a:rPr>
              <a:t>barplot(height, ...)</a:t>
            </a:r>
            <a:endParaRPr b="1" i="0" sz="1600" u="none" strike="noStrike">
              <a:solidFill>
                <a:srgbClr val="0596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00" u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INPUT: </a:t>
            </a:r>
            <a:r>
              <a:rPr b="0" i="0" lang="en-US" sz="85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 or 2 Categorical (table(species))</a:t>
            </a:r>
            <a:endParaRPr b="1" i="0" sz="1600" u="none" strike="noStrike">
              <a:solidFill>
                <a:srgbClr val="0596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780" u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FORESTRY APPLICATION (WHEN &amp; WHY)</a:t>
            </a:r>
            <a:endParaRPr b="1" i="0" sz="1600" u="none" strike="noStrike">
              <a:solidFill>
                <a:srgbClr val="0596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8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Compare stem counts, size-class frequencies (Sapling/Pole/Sawtimber), or species shares across inventory plots.</a:t>
            </a:r>
            <a:endParaRPr b="1" i="0" sz="1600" u="none" strike="noStrike">
              <a:solidFill>
                <a:srgbClr val="0596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780" u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TOP PARAMETERS TO TWEAK IN CLASS</a:t>
            </a:r>
            <a:endParaRPr b="1" i="0" sz="1600" u="none" strike="noStrike">
              <a:solidFill>
                <a:srgbClr val="0596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3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beside = TRUE</a:t>
            </a:r>
            <a:r>
              <a:rPr b="0" i="0" lang="en-US" sz="83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(grouped vs. stacked bars)</a:t>
            </a:r>
            <a:endParaRPr b="1" i="0" sz="1600" u="none" strike="noStrike">
              <a:solidFill>
                <a:srgbClr val="0596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3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horiz = TRUE</a:t>
            </a:r>
            <a:r>
              <a:rPr b="0" i="0" lang="en-US" sz="83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(horizontal bars for long names)</a:t>
            </a:r>
            <a:endParaRPr b="1" i="0" sz="1600" u="none" strike="noStrike">
              <a:solidFill>
                <a:srgbClr val="0596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3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names.arg</a:t>
            </a:r>
            <a:r>
              <a:rPr b="0" i="0" lang="en-US" sz="83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(custom category label vector)</a:t>
            </a:r>
            <a:endParaRPr b="1" i="0" sz="1600" u="none" strike="noStrike">
              <a:solidFill>
                <a:srgbClr val="0596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b="1" i="0" lang="en-US" sz="83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legend.text, ylim</a:t>
            </a:r>
            <a:r>
              <a:rPr b="0" i="0" lang="en-US" sz="83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(legend &amp; headroom expansion)</a:t>
            </a:r>
            <a:endParaRPr b="1" i="0" sz="1600" u="none" strike="noStrike">
              <a:solidFill>
                <a:srgbClr val="05966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731520" y="1638300"/>
            <a:ext cx="3400500" cy="3219600"/>
          </a:xfrm>
          <a:prstGeom prst="roundRect">
            <a:avLst>
              <a:gd fmla="val 4142" name="adj"/>
            </a:avLst>
          </a:prstGeom>
          <a:solidFill>
            <a:srgbClr val="FFFFFF"/>
          </a:solidFill>
          <a:ln cap="flat" cmpd="sng" w="95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350" lIns="152400" spcFirstLastPara="1" rIns="152400" wrap="square" tIns="133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strike="noStrike">
                <a:solidFill>
                  <a:srgbClr val="0284C7"/>
                </a:solidFill>
                <a:latin typeface="Courier New"/>
                <a:ea typeface="Courier New"/>
                <a:cs typeface="Courier New"/>
                <a:sym typeface="Courier New"/>
              </a:rPr>
              <a:t>plot(x, y, ...)</a:t>
            </a:r>
            <a:endParaRPr b="1" i="0" sz="1600" u="none" strike="noStrike">
              <a:solidFill>
                <a:srgbClr val="0284C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00" u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INPUT: </a:t>
            </a:r>
            <a:r>
              <a:rPr b="0" i="0" lang="en-US" sz="85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 Continuous (dbh_cm, height_m)</a:t>
            </a:r>
            <a:endParaRPr b="1" i="0" sz="1600" u="none" strike="noStrike">
              <a:solidFill>
                <a:srgbClr val="0284C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780" u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FORESTRY APPLICATION (WHEN &amp; WHY)</a:t>
            </a:r>
            <a:endParaRPr b="1" i="0" sz="1600" u="none" strike="noStrike">
              <a:solidFill>
                <a:srgbClr val="0284C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8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Inspect height–diameter or biomass allometry, check linearity vs. saturation curves, and spot transcription outliers.</a:t>
            </a:r>
            <a:endParaRPr b="1" i="0" sz="1600" u="none" strike="noStrike">
              <a:solidFill>
                <a:srgbClr val="0284C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780" u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TOP PARAMETERS TO TWEAK IN CLASS</a:t>
            </a:r>
            <a:endParaRPr b="1" i="0" sz="1600" u="none" strike="noStrike">
              <a:solidFill>
                <a:srgbClr val="0284C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3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pch = 19, cex</a:t>
            </a:r>
            <a:r>
              <a:rPr b="0" i="0" lang="en-US" sz="83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(point shape &amp; size scaling)</a:t>
            </a:r>
            <a:endParaRPr b="1" i="0" sz="1600" u="none" strike="noStrike">
              <a:solidFill>
                <a:srgbClr val="0284C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3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col, bty = "L"</a:t>
            </a:r>
            <a:r>
              <a:rPr b="0" i="0" lang="en-US" sz="83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(clean 2-sided axis frame)</a:t>
            </a:r>
            <a:endParaRPr b="1" i="0" sz="1600" u="none" strike="noStrike">
              <a:solidFill>
                <a:srgbClr val="0284C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3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abline()</a:t>
            </a:r>
            <a:r>
              <a:rPr b="0" i="0" lang="en-US" sz="83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(add fitted allometry regression)</a:t>
            </a:r>
            <a:endParaRPr b="1" i="0" sz="1600" u="none" strike="noStrike">
              <a:solidFill>
                <a:srgbClr val="0284C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b="1" i="0" lang="en-US" sz="83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lines(), text()</a:t>
            </a:r>
            <a:r>
              <a:rPr b="0" i="0" lang="en-US" sz="83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(model overlays &amp; annotations)</a:t>
            </a:r>
            <a:endParaRPr b="1" i="0" sz="1600" u="none" strike="noStrike">
              <a:solidFill>
                <a:srgbClr val="0284C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52" name="Google Shape;15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3465" y="4953000"/>
            <a:ext cx="29937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8564" y="4953000"/>
            <a:ext cx="33549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97" y="4953000"/>
            <a:ext cx="33549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/>
          <p:nvPr/>
        </p:nvSpPr>
        <p:spPr>
          <a:xfrm>
            <a:off x="731520" y="365760"/>
            <a:ext cx="3840600" cy="320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SYSTEMATIC CODE TROUBLESHOOTING</a:t>
            </a:r>
            <a:endParaRPr b="1" i="0" sz="11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731520" y="777240"/>
            <a:ext cx="1072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The 6-Step Systematic Debugging Protocol</a:t>
            </a:r>
            <a:endParaRPr b="1" i="0" sz="26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731520" y="1645920"/>
            <a:ext cx="3444300" cy="2190900"/>
          </a:xfrm>
          <a:prstGeom prst="roundRect">
            <a:avLst>
              <a:gd fmla="val 6956" name="adj"/>
            </a:avLst>
          </a:prstGeom>
          <a:solidFill>
            <a:srgbClr val="FFFFFF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STEP 01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READ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Read the exact error message and call stack without panic.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4370070" y="1645920"/>
            <a:ext cx="3444300" cy="2190900"/>
          </a:xfrm>
          <a:prstGeom prst="roundRect">
            <a:avLst>
              <a:gd fmla="val 6956" name="adj"/>
            </a:avLst>
          </a:prstGeom>
          <a:solidFill>
            <a:srgbClr val="FFFFFF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STEP 02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ISOLATE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Create a minimal reproducible example (reprex) with 3 tree rows.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8008620" y="1645920"/>
            <a:ext cx="3444300" cy="2190900"/>
          </a:xfrm>
          <a:prstGeom prst="roundRect">
            <a:avLst>
              <a:gd fmla="val 6956" name="adj"/>
            </a:avLst>
          </a:prstGeom>
          <a:solidFill>
            <a:srgbClr val="FFFFFF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STEP 03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TYPES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Check variable structures using str() and typeof().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731520" y="4027170"/>
            <a:ext cx="3444300" cy="2190900"/>
          </a:xfrm>
          <a:prstGeom prst="roundRect">
            <a:avLst>
              <a:gd fmla="val 6956" name="adj"/>
            </a:avLst>
          </a:prstGeom>
          <a:solidFill>
            <a:srgbClr val="FFFFFF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STEP 04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TRACE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Insert print() statements or browser() before the error line.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4370070" y="4027170"/>
            <a:ext cx="3444300" cy="2190900"/>
          </a:xfrm>
          <a:prstGeom prst="roundRect">
            <a:avLst>
              <a:gd fmla="val 6956" name="adj"/>
            </a:avLst>
          </a:prstGeom>
          <a:solidFill>
            <a:srgbClr val="FFFFFF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STEP 05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SOLVE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Apply vectorized fix or boundary guard assertion.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8008620" y="4027170"/>
            <a:ext cx="3444300" cy="2190900"/>
          </a:xfrm>
          <a:prstGeom prst="roundRect">
            <a:avLst>
              <a:gd fmla="val 6956" name="adj"/>
            </a:avLst>
          </a:prstGeom>
          <a:solidFill>
            <a:srgbClr val="FFFFFF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STEP 06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TEST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Run full stand dataset to ensure regression did not occur.</a:t>
            </a:r>
            <a:endParaRPr b="1" i="0" sz="11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/>
          <p:nvPr/>
        </p:nvSpPr>
        <p:spPr>
          <a:xfrm>
            <a:off x="731520" y="365760"/>
            <a:ext cx="3840600" cy="320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MODULAR PROGRAMMING</a:t>
            </a:r>
            <a:endParaRPr b="1" i="0" sz="11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731520" y="777240"/>
            <a:ext cx="10728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Encapsulating Forestry Allometry into Reusable Functions</a:t>
            </a:r>
            <a:endParaRPr b="1" i="0" sz="26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731520" y="1645920"/>
            <a:ext cx="51207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5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❌ COPY-PASTE SPREAD OF FORMULAS</a:t>
            </a:r>
            <a:endParaRPr b="1" i="0" sz="12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3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Duplication Risk</a:t>
            </a:r>
            <a:endParaRPr b="1" i="0" sz="12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Copying 'pi * dbh^2 / 40000' across 50 scripts creates severe maintenance debt.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If the formula is updated (e.g. adding bark deduction), 49 scripts remain broken.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Violates the DRY (Don't Repeat Yourself) principle.</a:t>
            </a:r>
            <a:endParaRPr b="1" i="0" sz="12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6217920" y="1645920"/>
            <a:ext cx="52422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5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0" u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✅ REUSABLE PARAMETERIZED FUNCTION</a:t>
            </a:r>
            <a:endParaRPr b="1" i="0" sz="93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79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calculate_basal_area()</a:t>
            </a:r>
            <a:endParaRPr b="1" i="0" sz="93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calculate_ba &lt;- function(dbh, unit = 'cm') {</a:t>
            </a:r>
            <a:b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 if (unit == 'mm') dbh &lt;- dbh / 10</a:t>
            </a:r>
            <a:b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 stopifnot(dbh &gt; 0)</a:t>
            </a:r>
            <a:b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 return(pi * dbh^2 / 40000)</a:t>
            </a:r>
            <a:b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b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Centralizes allometric logic.</a:t>
            </a:r>
            <a:b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8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Enforces automatic unit conversion and domain assertion.</a:t>
            </a:r>
            <a:endParaRPr b="1" i="0" sz="93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/>
          <p:nvPr/>
        </p:nvSpPr>
        <p:spPr>
          <a:xfrm>
            <a:off x="731520" y="365760"/>
            <a:ext cx="3840600" cy="320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TABULAR DATA STANDARDS</a:t>
            </a:r>
            <a:endParaRPr b="1" i="0" sz="11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731520" y="777240"/>
            <a:ext cx="1072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Tidy Data Principles for Forest Inventory Tables</a:t>
            </a:r>
            <a:endParaRPr b="1" i="0" sz="26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731520" y="1645920"/>
            <a:ext cx="32919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5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0" u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RULE 1: EACH STEM IS A ROW</a:t>
            </a:r>
            <a:endParaRPr b="1" i="0" sz="102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306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Unique Observation</a:t>
            </a:r>
            <a:endParaRPr b="1" i="0" sz="102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5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Every single row in the data frame represents exactly one measured tree or plot entity.</a:t>
            </a:r>
            <a:br>
              <a:rPr b="0" i="0" lang="en-US" sz="1105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5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Never combine multi-stem clump measurements into one row cell.</a:t>
            </a:r>
            <a:endParaRPr b="1" i="0" sz="102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4389120" y="1645920"/>
            <a:ext cx="32919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5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RULE 2: EACH ATTRIBUTE IS A COLUMN</a:t>
            </a:r>
            <a:endParaRPr b="1" i="0" sz="1200" u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3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Distinct Variable</a:t>
            </a:r>
            <a:endParaRPr b="1" i="0" sz="1200" u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Plot_ID, Stem_ID, Species, DBH_cm, Height_m, Decay_Class must each occupy distinct columns with explicit data types.</a:t>
            </a:r>
            <a:endParaRPr b="1" i="0" sz="1200" u="none" strike="noStrik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8046720" y="1645920"/>
            <a:ext cx="34134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5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RULE 3: ONE OBSERVATION LEVEL PER TABLE</a:t>
            </a:r>
            <a:endParaRPr b="1" i="0" sz="12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3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Relational Integrity</a:t>
            </a:r>
            <a:endParaRPr b="1" i="0" sz="12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Tree-level measurements belong in tree_data.csv.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Plot-level coordinates and slope belong in plot_metadata.csv.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Joined by Plot_ID key.</a:t>
            </a:r>
            <a:endParaRPr b="1" i="0" sz="12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/>
          <p:nvPr/>
        </p:nvSpPr>
        <p:spPr>
          <a:xfrm>
            <a:off x="731520" y="365760"/>
            <a:ext cx="3840600" cy="320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UNIT II SYNTHESIS</a:t>
            </a:r>
            <a:endParaRPr b="1" i="0" sz="11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4"/>
          <p:cNvSpPr txBox="1"/>
          <p:nvPr/>
        </p:nvSpPr>
        <p:spPr>
          <a:xfrm>
            <a:off x="731520" y="777240"/>
            <a:ext cx="10728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Summary: Core Programming Rules for Foresters</a:t>
            </a:r>
            <a:endParaRPr b="1" i="0" sz="2600" u="none" strike="noStrike">
              <a:solidFill>
                <a:srgbClr val="0F172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4" name="Google Shape;194;p24"/>
          <p:cNvSpPr/>
          <p:nvPr/>
        </p:nvSpPr>
        <p:spPr>
          <a:xfrm>
            <a:off x="731520" y="1645920"/>
            <a:ext cx="51207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5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DEFENSIVE HABITS</a:t>
            </a:r>
            <a:endParaRPr b="1" i="0" sz="12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3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Never Trust Input Data</a:t>
            </a:r>
            <a:endParaRPr b="1" i="0" sz="12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1. Always inspect column structures with str() and summary().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2. Use vectorized assertions to verify biological boundaries (5 &lt;= DBH &lt;= 350).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3. Avoid scalar 'if' for multi-tree operations.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4. Save custom functions in R/ directory scripts.</a:t>
            </a:r>
            <a:endParaRPr b="1" i="0" sz="12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4"/>
          <p:cNvSpPr/>
          <p:nvPr/>
        </p:nvSpPr>
        <p:spPr>
          <a:xfrm>
            <a:off x="6217920" y="1645920"/>
            <a:ext cx="524220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5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THE AUTOMATION PAYOFF</a:t>
            </a:r>
            <a:endParaRPr b="1" i="0" sz="120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3600" u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5,000 Stems in 0.02s</a:t>
            </a:r>
            <a:endParaRPr b="1" i="0" sz="120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By vectorizing calculations: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100 forest inventory plots process in milliseconds.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Human transcription errors are eliminated.</a:t>
            </a:r>
            <a:b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The entire dataset can be audited by external reviewers instantly.</a:t>
            </a:r>
            <a:endParaRPr b="1" i="0" sz="1200" u="none" strike="noStrik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