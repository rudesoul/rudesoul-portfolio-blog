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914400" y="666750"/>
            <a:ext cx="4572000" cy="342900"/>
          </a:xfrm>
          <a:prstGeom prst="roundRect">
            <a:avLst>
              <a:gd fmla="val 16666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TRIBHUVAN UNIVERSITY • M.SC. FORESTRY • UNIT I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1238250"/>
            <a:ext cx="10332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COMPUTATIONAL WORKFLOW &amp;</a:t>
            </a:r>
            <a:endParaRPr b="1" i="0" sz="38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REPRODUCIBLE FOUNDATIONS</a:t>
            </a:r>
            <a:endParaRPr b="1" i="0" sz="38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6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Transforming Forestry Research from Manual Spreadsheets to Auditable, Scripted Ecological Pipelines</a:t>
            </a:r>
            <a:endParaRPr b="1" i="0" sz="38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914400" y="4000500"/>
            <a:ext cx="2423100" cy="2095500"/>
          </a:xfrm>
          <a:prstGeom prst="roundRect">
            <a:avLst>
              <a:gd fmla="val 54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190500" spcFirstLastPara="1" rIns="1905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WEEKS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Semester Core Curriculum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557016" y="4000500"/>
            <a:ext cx="2423100" cy="2095500"/>
          </a:xfrm>
          <a:prstGeom prst="roundRect">
            <a:avLst>
              <a:gd fmla="val 54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190500" spcFirstLastPara="1" rIns="1905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HOURS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20 Theory + 16 Supervised Lab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199632" y="4000500"/>
            <a:ext cx="2423100" cy="2095500"/>
          </a:xfrm>
          <a:prstGeom prst="roundRect">
            <a:avLst>
              <a:gd fmla="val 54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190500" spcFirstLastPara="1" rIns="1905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1" i="0" sz="4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AUDITABLE</a:t>
            </a:r>
            <a:endParaRPr b="1" i="0" sz="4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Scripted Code Over Point-and-Click</a:t>
            </a:r>
            <a:endParaRPr b="1" i="0" sz="4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842247" y="4000500"/>
            <a:ext cx="2423100" cy="2095500"/>
          </a:xfrm>
          <a:prstGeom prst="roundRect">
            <a:avLst>
              <a:gd fmla="val 54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190500" spcFirstLastPara="1" rIns="1905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OBSERVATORY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Bagmati Province Community Forest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731520" y="411480"/>
            <a:ext cx="2926200" cy="329100"/>
          </a:xfrm>
          <a:prstGeom prst="roundRect">
            <a:avLst>
              <a:gd fmla="val 17361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COMPUTATIONAL SHIFT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31520" y="749808"/>
            <a:ext cx="1072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Modern Forest Science Has Outgrown Manual Spreadsheet Cells</a:t>
            </a:r>
            <a:endParaRPr b="1" i="0" sz="24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731520" y="1463040"/>
            <a:ext cx="3365100" cy="4937700"/>
          </a:xfrm>
          <a:prstGeom prst="roundRect">
            <a:avLst>
              <a:gd fmla="val 3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66700" spcFirstLastPara="1" rIns="266700" wrap="square" tIns="266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10,000+</a:t>
            </a:r>
            <a:endParaRPr b="1" i="0" sz="44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STEM RECORDS</a:t>
            </a:r>
            <a:endParaRPr b="1" i="0" sz="44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Continuous Forest Inventory (CFI)</a:t>
            </a:r>
            <a:endParaRPr b="1" i="0" sz="44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Modern inventory designs track thousands of individual stems across permanent sample plots over decades. Manual spreadsheet verification of diameters and heights creates inevitable data fatigue and undetected errors.</a:t>
            </a:r>
            <a:endParaRPr b="1" i="0" sz="44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4407408" y="1463040"/>
            <a:ext cx="3365100" cy="4937700"/>
          </a:xfrm>
          <a:prstGeom prst="roundRect">
            <a:avLst>
              <a:gd fmla="val 3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66700" spcFirstLastPara="1" rIns="266700" wrap="square" tIns="266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3D</a:t>
            </a:r>
            <a:endParaRPr b="1" i="0" sz="44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POINT CLOUDS &amp; RASTERS</a:t>
            </a:r>
            <a:endParaRPr b="1" i="0" sz="44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LiDAR &amp; Earth Observation</a:t>
            </a:r>
            <a:endParaRPr b="1" i="0" sz="44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Canopy height models derived from LiDAR contain millions of 3D coordinates. Satellite imagery (Sentinel, Landsat) and WorldClim surfaces arrive as high-resolution spatial rasters that cannot be loaded into spreadsheets.</a:t>
            </a:r>
            <a:endParaRPr b="1" i="0" sz="44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8083296" y="1463040"/>
            <a:ext cx="3365100" cy="4937700"/>
          </a:xfrm>
          <a:prstGeom prst="roundRect">
            <a:avLst>
              <a:gd fmla="val 3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66700" spcFirstLastPara="1" rIns="266700" wrap="square" tIns="266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 b="1" i="0" sz="44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AUDIT TRAIL</a:t>
            </a:r>
            <a:endParaRPr b="1" i="0" sz="44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7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Spreadsheet Hazard</a:t>
            </a:r>
            <a:endParaRPr b="1" i="0" sz="44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Manual edits, unrecorded cell deletions, silent date conversions (e.g., converting gene names or plot IDs into dates), and copy-paste drag formula corruptions leave zero trace. When a thesis is challenged, manual work cannot be proven.</a:t>
            </a:r>
            <a:endParaRPr b="1" i="0" sz="44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731520" y="411480"/>
            <a:ext cx="2926200" cy="329100"/>
          </a:xfrm>
          <a:prstGeom prst="roundRect">
            <a:avLst>
              <a:gd fmla="val 17361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METHODOLOGICAL SEQUENCE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31520" y="749808"/>
            <a:ext cx="1072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7-Step Computational Research Workflow</a:t>
            </a:r>
            <a:endParaRPr b="1" i="0" sz="24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731520" y="1463040"/>
            <a:ext cx="2487300" cy="2148900"/>
          </a:xfrm>
          <a:prstGeom prst="roundRect">
            <a:avLst>
              <a:gd fmla="val 53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335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01  QUESTION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Hypothesis &amp; Scoping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Define clear ecological hypotheses, target response variables, and experimental sampling structure before collecting or opening data.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3474720" y="1463040"/>
            <a:ext cx="2487300" cy="2148900"/>
          </a:xfrm>
          <a:prstGeom prst="roundRect">
            <a:avLst>
              <a:gd fmla="val 53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335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02  DATA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Collection &amp; Ingestion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Read field tally sheets, community forest registries, climate grids, and satellite layers without modifying originals.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217920" y="1463040"/>
            <a:ext cx="2487300" cy="2148900"/>
          </a:xfrm>
          <a:prstGeom prst="roundRect">
            <a:avLst>
              <a:gd fmla="val 53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335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03  CLEANING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Audit-Trailed Fixes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Species name standardization, missing value detection, range checks, and basal area calculation via reproducible scripts.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8961120" y="1463040"/>
            <a:ext cx="2487300" cy="2148900"/>
          </a:xfrm>
          <a:prstGeom prst="roundRect">
            <a:avLst>
              <a:gd fmla="val 53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335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04  ANALYSIS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Statistical Models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Apply mixed-effects models, species diversity indices, height-DBH allometric curves, and spatial interpolations.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31520" y="3886200"/>
            <a:ext cx="2487300" cy="2148900"/>
          </a:xfrm>
          <a:prstGeom prst="roundRect">
            <a:avLst>
              <a:gd fmla="val 53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335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05  VISUALISE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Exploratory Plots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Generate publication-grade graphics (ggplot2, matplotlib) that reveal patterns, distributions, and model residuals.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474720" y="3886200"/>
            <a:ext cx="2487300" cy="2148900"/>
          </a:xfrm>
          <a:prstGeom prst="roundRect">
            <a:avLst>
              <a:gd fmla="val 53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335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06  INTERPRET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Ecological Meaning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Translate model coefficients, p-values, and effect sizes into real-world forest management and conservation decisions.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217920" y="3886200"/>
            <a:ext cx="2487300" cy="2148900"/>
          </a:xfrm>
          <a:prstGeom prst="roundRect">
            <a:avLst>
              <a:gd fmla="val 53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3350" lIns="152400" spcFirstLastPara="1" rIns="1524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07  REPORT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Executable Publishing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Compile data, code, commentary, and figures simultaneously into a Quarto document where results auto-update.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8961120" y="3886200"/>
            <a:ext cx="2487300" cy="2148900"/>
          </a:xfrm>
          <a:prstGeom prst="roundRect">
            <a:avLst>
              <a:gd fmla="val 5319" name="adj"/>
            </a:avLst>
          </a:prstGeom>
          <a:solidFill>
            <a:srgbClr val="FEF3C7"/>
          </a:solidFill>
          <a:ln cap="flat" cmpd="sng" w="9525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52400" lIns="171450" spcFirstLastPara="1" rIns="171450" wrap="square" tIns="17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CORE MANDATE</a:t>
            </a:r>
            <a:endParaRPr b="1" i="0" sz="1150" u="none" strike="noStrike">
              <a:solidFill>
                <a:srgbClr val="B4530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strike="noStrike">
                <a:solidFill>
                  <a:srgbClr val="78350F"/>
                </a:solidFill>
                <a:latin typeface="Arial"/>
                <a:ea typeface="Arial"/>
                <a:cs typeface="Arial"/>
                <a:sym typeface="Arial"/>
              </a:rPr>
              <a:t>One Direct Scripted Path</a:t>
            </a:r>
            <a:endParaRPr b="1" i="0" sz="1150" u="none" strike="noStrike">
              <a:solidFill>
                <a:srgbClr val="B4530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000" u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Every figure and p-value in Step 07 must regenerate automatically from raw data (Step 02) with a single click.</a:t>
            </a:r>
            <a:endParaRPr b="1" i="0" sz="1150" u="none" strike="noStrike">
              <a:solidFill>
                <a:srgbClr val="B4530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731520" y="411480"/>
            <a:ext cx="2926200" cy="329100"/>
          </a:xfrm>
          <a:prstGeom prst="roundRect">
            <a:avLst>
              <a:gd fmla="val 17361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OPERATIONAL CONTRAST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731520" y="749808"/>
            <a:ext cx="1072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Scripted Pipelines Replace Spreadsheet Clicks</a:t>
            </a:r>
            <a:endParaRPr b="1" i="0" sz="24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731520" y="1463040"/>
            <a:ext cx="5166300" cy="4892100"/>
          </a:xfrm>
          <a:prstGeom prst="roundRect">
            <a:avLst>
              <a:gd fmla="val 2336" name="adj"/>
            </a:avLst>
          </a:prstGeom>
          <a:solidFill>
            <a:srgbClr val="FFF5F5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304800" spcFirstLastPara="1" rIns="30480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MANUAL SPREADSHEETS</a:t>
            </a:r>
            <a:endParaRPr b="1" i="0" sz="13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Fragile &amp; Unrecorded</a:t>
            </a:r>
            <a:endParaRPr b="1" i="0" sz="13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Invisible Actions: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Clicking, filtering, and manual cell overwrites leave zero audit trail behind.</a:t>
            </a:r>
            <a:endParaRPr b="1" i="0" sz="13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Formula Drift: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Dragging equations across rows leads to silent formula truncation and range misalignment.</a:t>
            </a:r>
            <a:endParaRPr b="1" i="0" sz="13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Manual Scaling Bottleneck: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Re-analyzing when new seasonal field inventory arrives takes days of re-clicking.</a:t>
            </a:r>
            <a:endParaRPr b="1" i="0" sz="13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Collaboration Hazard: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Passing spreadsheet copies via email produces divergent, conflicting 'final' versions.</a:t>
            </a:r>
            <a:endParaRPr b="1" i="0" sz="13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6291072" y="1463040"/>
            <a:ext cx="5166300" cy="4892100"/>
          </a:xfrm>
          <a:prstGeom prst="roundRect">
            <a:avLst>
              <a:gd fmla="val 2336" name="adj"/>
            </a:avLst>
          </a:prstGeom>
          <a:solidFill>
            <a:srgbClr val="F0FDFA"/>
          </a:solidFill>
          <a:ln cap="flat" cmpd="sng" w="9525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304800" spcFirstLastPara="1" rIns="30480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SCRIPTED CODE (R &amp; PYTHON)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Transparent &amp; Auditable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Explicit Code Pipeline: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Every transformation, species rename, and calculation is written as readable code.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Deterministic Processing: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Code runs identically every time. Mathematical unit conversions remain rock solid.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Instant Scalability: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same script processes 10 sample plots or 100,000 national inventory stems instantly.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Version Controlled: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Git tracks every line change, author commit, and analytical milestone with timestamps.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731520" y="411480"/>
            <a:ext cx="2926200" cy="329100"/>
          </a:xfrm>
          <a:prstGeom prst="roundRect">
            <a:avLst>
              <a:gd fmla="val 17361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SCIENTIFIC RIGOUR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731520" y="749808"/>
            <a:ext cx="1072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Repeatability, Reproducibility, and Replicability Defined</a:t>
            </a:r>
            <a:endParaRPr b="1" i="0" sz="24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731520" y="1463040"/>
            <a:ext cx="3365100" cy="4892100"/>
          </a:xfrm>
          <a:prstGeom prst="roundRect">
            <a:avLst>
              <a:gd fmla="val 3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66700" spcFirstLastPara="1" rIns="266700" wrap="square" tIns="266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REPEATABLE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5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SAME TEAM • SAME CODE • SAME DATA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50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Minimum Laboratory Baseline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 researcher executes their own script on their own raw field measurements six months later and produces the exact same statistical outputs, model estimates, and graphics without manual adjustment.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407408" y="1463040"/>
            <a:ext cx="3365100" cy="4892100"/>
          </a:xfrm>
          <a:prstGeom prst="roundRect">
            <a:avLst>
              <a:gd fmla="val 3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66700" spcFirstLastPara="1" rIns="266700" wrap="square" tIns="266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REPRODUCIBLE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5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DIFFERENT TEAM • SAME CODE • SAME DATA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50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Peer-Review Gold Standard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 independent external investigator or thesis examiner downloads your code repository, executes the scripts on your raw data in their own computational environment, and obtains identical results.</a:t>
            </a:r>
            <a:endParaRPr b="1" i="0" sz="4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8083296" y="1463040"/>
            <a:ext cx="3365100" cy="4892100"/>
          </a:xfrm>
          <a:prstGeom prst="roundRect">
            <a:avLst>
              <a:gd fmla="val 3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66700" spcFirstLastPara="1" rIns="266700" wrap="square" tIns="266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4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REPLICABLE</a:t>
            </a:r>
            <a:endParaRPr b="1" i="0" sz="4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5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DIFFERENT TEAM • NEW DATA • SAME METHOD</a:t>
            </a:r>
            <a:endParaRPr b="1" i="0" sz="4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i="0" lang="en-US" sz="150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Ecological Generality</a:t>
            </a:r>
            <a:endParaRPr b="1" i="0" sz="4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 independent team applies your documented analytical methodology to new field data collected from a different forest division (e.g., Terai Sal forest vs. High Mountain Oak) and verifies the ecological findings.</a:t>
            </a:r>
            <a:endParaRPr b="1" i="0" sz="4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731520" y="411480"/>
            <a:ext cx="2926200" cy="329100"/>
          </a:xfrm>
          <a:prstGeom prst="roundRect">
            <a:avLst>
              <a:gd fmla="val 17361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PROJECT ARCHITECTURE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731520" y="749808"/>
            <a:ext cx="1072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Standardized Workspace Layout for the Bagmati Observatory</a:t>
            </a:r>
            <a:endParaRPr b="1" i="0" sz="24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731520" y="1463040"/>
            <a:ext cx="5166300" cy="4892100"/>
          </a:xfrm>
          <a:prstGeom prst="roundRect">
            <a:avLst>
              <a:gd fmla="val 2336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90500" lIns="228600" spcFirstLastPara="1" rIns="228600" wrap="square" tIns="2286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CANONICAL FOLDER REPOSITORY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bagmati_observatory/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00" u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├── data/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DC2626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raw/             # IMMUTABLE Field CSVs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processed/       # Cleaned by Script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external/        # Climate &amp; GIS APIs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scripts/             # Numbered R &amp; Python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├── figures/             # Vector Output Plots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├── outputs/             # Models &amp; Tables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reports/             # Quarto (.qmd) Documents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README.md            # Metadata &amp; Dictionary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050" u="none" strike="noStrike">
                <a:solidFill>
                  <a:srgbClr val="0D9488"/>
                </a:solidFill>
                <a:latin typeface="Courier New"/>
                <a:ea typeface="Courier New"/>
                <a:cs typeface="Courier New"/>
                <a:sym typeface="Courier New"/>
              </a:rPr>
              <a:t>└── observatory.Rproj    # Relative Path Anchor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291072" y="1463040"/>
            <a:ext cx="5166300" cy="150870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3350" lIns="190500" spcFirstLastPara="1" rIns="1905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RULE 01: RELATIVE PATHS ONLY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Anchor all workflows to the project root using '.Rproj' or Python 'pathlib'. Never use 'C:/Users/Student/Desktop/'. If you move the project to another computer, it must run without editing a single path.</a:t>
            </a:r>
            <a:endParaRPr b="1" i="0" sz="12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291072" y="3154680"/>
            <a:ext cx="5166300" cy="150870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3350" lIns="190500" spcFirstLastPara="1" rIns="1905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RULE 02: RAW DATA IS SACROSANCT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Files inside 'data/raw/' must remain 100% read-only. Never open them in Excel to correct a typo or change a cell value. Every correction must occur transparently in a cleaning script in 'scripts/'.</a:t>
            </a:r>
            <a:endParaRPr b="1" i="0" sz="12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6291072" y="4846320"/>
            <a:ext cx="5166300" cy="150870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133350" lIns="190500" spcFirstLastPara="1" rIns="190500" wrap="square" tIns="152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RULE 03: NUMBERED WORKFLOW SCRIPTS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Organize scripts by execution sequence: '01_clean_inventory.R', '02_fit_allometry.R', '03_spatial_kriging.py'. Anyone should be able to run the pipeline in numerical order from scratch.</a:t>
            </a:r>
            <a:endParaRPr b="1" i="0" sz="12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731520" y="411480"/>
            <a:ext cx="2926200" cy="329100"/>
          </a:xfrm>
          <a:prstGeom prst="roundRect">
            <a:avLst>
              <a:gd fmla="val 17361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DEFENSIVE PROGRAMMING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731520" y="749808"/>
            <a:ext cx="1072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Three Non-Negotiable Rules for Defensible Ecological Research</a:t>
            </a:r>
            <a:endParaRPr b="1" i="0" sz="24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731520" y="1463040"/>
            <a:ext cx="3365100" cy="4892100"/>
          </a:xfrm>
          <a:prstGeom prst="roundRect">
            <a:avLst>
              <a:gd fmla="val 3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66700" spcFirstLastPara="1" rIns="266700" wrap="square" tIns="266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i="0" sz="48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IMMUTABLE RAW DATA</a:t>
            </a:r>
            <a:endParaRPr b="1" i="0" sz="48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Treat Raw Sheets Like Museum Specimens</a:t>
            </a:r>
            <a:endParaRPr b="1" i="0" sz="48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Raw field CSVs are primary historical evidence. Never sort, reformat, or fix typos directly in the raw file. Write an automated cleaning script that outputs to 'data/processed/' so every decision is logged and auditable.</a:t>
            </a:r>
            <a:endParaRPr b="1" i="0" sz="48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407408" y="1463040"/>
            <a:ext cx="3365100" cy="4892100"/>
          </a:xfrm>
          <a:prstGeom prst="roundRect">
            <a:avLst>
              <a:gd fmla="val 3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66700" spcFirstLastPara="1" rIns="266700" wrap="square" tIns="266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i="0" sz="48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ZERO ABSOLUTE PATHS</a:t>
            </a:r>
            <a:endParaRPr b="1" i="0" sz="48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Eliminate System-Dependent Breakages</a:t>
            </a:r>
            <a:endParaRPr b="1" i="0" sz="48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Code containing 'setwd("C:/...")' will immediately crash on your supervisor's Mac, the university cluster, or during peer review. Use relative directory paths anchored to the project root.</a:t>
            </a:r>
            <a:endParaRPr b="1" i="0" sz="48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8083296" y="1463040"/>
            <a:ext cx="3365100" cy="4892100"/>
          </a:xfrm>
          <a:prstGeom prst="roundRect">
            <a:avLst>
              <a:gd fmla="val 339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266700" spcFirstLastPara="1" rIns="266700" wrap="square" tIns="266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i="0" sz="48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RIGOROUS DATA DICTIONARIES</a:t>
            </a:r>
            <a:endParaRPr b="1" i="0" sz="48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6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Document Every Unit, Code &amp; Biological Range</a:t>
            </a:r>
            <a:endParaRPr b="1" i="0" sz="48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15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Mathematical code runs without errors even when units are biologically absurd. Define explicit metadata: is DBH in cm or mm? Is Biomass in kg or tons? Document taxonomic spelling conventions and valid ranges.</a:t>
            </a:r>
            <a:endParaRPr b="1" i="0" sz="4800" u="none" strike="noStrike">
              <a:solidFill>
                <a:srgbClr val="DC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731520" y="411480"/>
            <a:ext cx="2926200" cy="329100"/>
          </a:xfrm>
          <a:prstGeom prst="roundRect">
            <a:avLst>
              <a:gd fmla="val 17361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NEXT-GEN TOOLCHAIN</a:t>
            </a:r>
            <a:endParaRPr b="1" i="0" sz="1000" u="none" strike="noStrike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731520" y="749808"/>
            <a:ext cx="10728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Integrating Version Control &amp; Executable Scientific Publishing</a:t>
            </a:r>
            <a:endParaRPr b="1" i="0" sz="2400" u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731520" y="1463040"/>
            <a:ext cx="5166300" cy="4892100"/>
          </a:xfrm>
          <a:prstGeom prst="roundRect">
            <a:avLst>
              <a:gd fmla="val 23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304800" spcFirstLastPara="1" rIns="30480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GIT VERSION CONTROL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Full Scientific Provenance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Cryptographic Audit History: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No more 'analysis_v2_final_final.R'. Git creates a permanent, time-stamped snapshot of every line of code modified.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Safe Branching &amp; Experimentation: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Test a new allometric height model or Kriging algorithm on a branch without jeopardizing your working baseline.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Attribution &amp; Collaboration: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Track which team member wrote, debugged, or updated each analytical component in shared community forest studies.</a:t>
            </a:r>
            <a:endParaRPr b="1" i="0" sz="1300" u="none" strike="noStrike">
              <a:solidFill>
                <a:srgbClr val="0D94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6291072" y="1463040"/>
            <a:ext cx="5166300" cy="4892100"/>
          </a:xfrm>
          <a:prstGeom prst="roundRect">
            <a:avLst>
              <a:gd fmla="val 23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228600" lIns="304800" spcFirstLastPara="1" rIns="304800" wrap="square" tIns="26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QUARTO SCIENTIFIC REPORTS</a:t>
            </a:r>
            <a:endParaRPr b="1" i="0" sz="13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200" u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Literate Executable Research</a:t>
            </a:r>
            <a:endParaRPr b="1" i="0" sz="13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Unifying Code and Narrative: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Combines markdown prose, R/Python calculation blocks, and live statistical figures in a single '.qmd' file.</a:t>
            </a:r>
            <a:endParaRPr b="1" i="0" sz="13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Eliminating Copy-Paste Errors: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Tables and numbers in the report text update automatically when raw data or models change—preventing transcription discrepancies.</a:t>
            </a:r>
            <a:endParaRPr b="1" i="0" sz="13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0" lang="en-US" sz="1250" u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Multi-Format Publishing: </a:t>
            </a:r>
            <a:r>
              <a:rPr b="0" i="0" lang="en-US" sz="1200" u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Renders identical analysis into PDF manuscripts, interactive HTML dashboards, or university presentation slides with one command.</a:t>
            </a:r>
            <a:endParaRPr b="1" i="0" sz="1300" u="none" strike="noStrike">
              <a:solidFill>
                <a:srgbClr val="D9770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